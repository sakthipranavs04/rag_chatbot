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 I'm Sakthi Pranav S from CSE-E, Roll No 24CSR253. Today I will be presenting on Feature Scaling in Machine Learning — a fundamental preprocessing technique that ensures every feature contributes fairly during model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is a subfield of AI that lets systems learn from data instead of being hard-coded. Emphasize the Data → Model → Prediction workflow. Give at least two concrete examples such as medical diagnosis and product recommendations to make it relatable.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Scaling puts all features on a comparable range. Use the Age vs Salary example: 20 vs 50,000 — the salary column dominates any distance computation. Show that after scaling, both features contribute equally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scaling improves accuracy, speeds up training, prevents feature dominance, smooths optimization, and boosts prediction. The loss chart illustrates how gradient descent converges much faster on scaled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algorithm that computes distances or uses gradient descent benefits from feature scaling: KNN, SVM, Logistic Regression, Neural Networks, K-Means. Tree-based models split by thresholds and are scale-invariant, so no scaling is needed for Decision Trees or Random Forests.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workhorse techniques: Min-Max Scaling puts every value between 0 and 1 while preserving relative distances. Standardization (Z-score) centers data around a mean of zero with unit variance and is more robust when outliers are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Min-Max Scaling rescales every value between 0 and 1 using the formula shown. It is intuitive, preserves relative spacing, and is standard in neural networks and image pipelines. Its main weakness is that a single outlier compresses all other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Standardization uses the Z-score formula, producing a distribution with mean zero and standard deviation of one. It handles outliers better than Min-Max and is the default for most classical ML libraries such as scikit-learn's StandardScaler.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example: student B has the max height and income, so both scale to 1.0. Student A has the min, so both scale to 0.0. C sits at the midpoint. After scaling, no feature dominates and the model can treat them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scaling boosts accuracy, speed, and stability while reducing bias and making optimization smoother. The chart illustrates the typical uplift after applying scaling, particularly for gradient-based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ask: does this algorithm need scaling? Tree-based models don't. Beware of outliers when using Min-Max — consider RobustScaler or Standardization instead. And make sure to fit the scaler on the training data only, then apply to test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scaling is quietly at work in healthcare imaging, credit models, fraud detection systems, recommender engines, biometric security, computer vision, autonomous driving, and financial forecasting. The takeaway: it's a small step with a huge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emphasizing that feature scaling is a low-cost, high-return preprocessing step. Restate the pipeline Data → Scaling → Model → Prediction. Encourage the audience to always test with and without scaling to confirm its impact on their specific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for their attention and invite questions. Be ready to discuss which scaling method fits which algorithm, and how to handle outliers. Remind them: no scaling for tree-based models, standardization for most classical ML, and min-max for neural networks or image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4114800" cy="411480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097280"/>
            <a:ext cx="2377440" cy="2377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105156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1887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32588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ML</a:t>
            </a:r>
            <a:endParaRPr lang="en-US" sz="5400" dirty="0"/>
          </a:p>
        </p:txBody>
      </p:sp>
      <p:sp>
        <p:nvSpPr>
          <p:cNvPr id="12" name="Shape 9"/>
          <p:cNvSpPr/>
          <p:nvPr/>
        </p:nvSpPr>
        <p:spPr>
          <a:xfrm>
            <a:off x="3886200" y="3246120"/>
            <a:ext cx="1371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Preprocessing Technique for Better Machine Learning Models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14600" y="3840480"/>
            <a:ext cx="4114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14600" y="3840480"/>
            <a:ext cx="9144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7480" y="3913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9748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Sakthi Pranav 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697480" y="4416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24CSR253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937760"/>
            <a:ext cx="8503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Seminar  • 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Artificial Intelligence that learns from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41148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344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1645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AI that enables computers to learn from data, identify patterns, and make predictions — without being explicitly programmed.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752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304495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33375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8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3172968"/>
            <a:ext cx="182880" cy="1828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965960" y="28803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0175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468880" y="304495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2468880" y="33375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</a:t>
            </a:r>
            <a:endParaRPr lang="en-US" sz="8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172968"/>
            <a:ext cx="182880" cy="1828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429000" y="28803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175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04495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931920" y="33375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insights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50292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 Workflow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074920" y="1234440"/>
            <a:ext cx="1371600" cy="13716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257800" y="141732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554480"/>
            <a:ext cx="731520" cy="7315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07492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5836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583680" y="157276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1609344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4944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583680" y="195681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1993392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949440" y="1956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6583680" y="2340864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0256" y="2377440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94944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6583680" y="272491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0256" y="2761488"/>
            <a:ext cx="201168" cy="20116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94944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6583680" y="310896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0256" y="3145536"/>
            <a:ext cx="201168" cy="20116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9494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</a:t>
            </a:r>
            <a:endParaRPr lang="en-US" sz="1100" dirty="0"/>
          </a:p>
        </p:txBody>
      </p:sp>
      <p:sp>
        <p:nvSpPr>
          <p:cNvPr id="50" name="Shape 37"/>
          <p:cNvSpPr/>
          <p:nvPr/>
        </p:nvSpPr>
        <p:spPr>
          <a:xfrm>
            <a:off x="5074920" y="3383280"/>
            <a:ext cx="384048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25780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transforms raw data into intelligent decisions, powering the next generation of automated systems.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Feature Scaling?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every feature onto a common numeric scale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40233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3444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is a preprocessing step that transforms numeric features so they share a similar range — preventing large-value features from dominating the learning process.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4023360" cy="196596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Different Ranges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063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54480" y="3127248"/>
            <a:ext cx="32004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063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3429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54480" y="3493008"/>
            <a:ext cx="27889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scaling, Salary overwhelms Age — the model effectively ignores age.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Scaling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554480"/>
            <a:ext cx="1920240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4069080"/>
            <a:ext cx="502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1965960"/>
            <a:ext cx="502920" cy="2148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1554480"/>
            <a:ext cx="192024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23760" y="3017520"/>
            <a:ext cx="50292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55280" y="2880360"/>
            <a:ext cx="5029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4160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Feature Scaling Important?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reasons scaling makes your models stronger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16002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80160"/>
            <a:ext cx="1600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0" y="15087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1581912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" y="2514600"/>
            <a:ext cx="1380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features lead to more reliable predictions.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21992" y="1280160"/>
            <a:ext cx="16002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21992" y="1280160"/>
            <a:ext cx="1600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7772" y="15087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924" y="158191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313432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331720" y="2514600"/>
            <a:ext cx="1380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converges in fewer iterations.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941064" y="1280160"/>
            <a:ext cx="16002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941064" y="1280160"/>
            <a:ext cx="1600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66844" y="150876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6" y="1581912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032504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Dominance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050792" y="2514600"/>
            <a:ext cx="1380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Large-magnitude features can't overshadow smaller ones.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660136" y="1280160"/>
            <a:ext cx="16002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660136" y="1280160"/>
            <a:ext cx="1600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185916" y="15087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581912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751576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Optimization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769864" y="2514600"/>
            <a:ext cx="1380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loss surface, easier to reach a minimum.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379208" y="1280160"/>
            <a:ext cx="16002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379208" y="1280160"/>
            <a:ext cx="1600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904988" y="15087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140" y="1581912"/>
            <a:ext cx="402336" cy="40233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470648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Predictions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7488936" y="2514600"/>
            <a:ext cx="1380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generalization on unseen real-world data.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502920" y="347472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858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Loss vs Training Iterations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6583680" y="359359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720840" y="3520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7909560" y="35935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804672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Scaling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822960" y="4617720"/>
            <a:ext cx="76809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22960" y="3840480"/>
            <a:ext cx="0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822960" y="3957518"/>
            <a:ext cx="853440" cy="42277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1676400" y="3997559"/>
            <a:ext cx="853440" cy="5160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2529840" y="4047213"/>
            <a:ext cx="853440" cy="4024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3383280" y="4082472"/>
            <a:ext cx="853440" cy="3085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4236720" y="4126507"/>
            <a:ext cx="853440" cy="2990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090160" y="4158890"/>
            <a:ext cx="853440" cy="3338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5943600" y="4198110"/>
            <a:ext cx="853440" cy="32978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6797040" y="4233684"/>
            <a:ext cx="853440" cy="43581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650480" y="4272536"/>
            <a:ext cx="853440" cy="42579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822960" y="3957066"/>
            <a:ext cx="853440" cy="298079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676400" y="4255145"/>
            <a:ext cx="853440" cy="163589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2529840" y="4418735"/>
            <a:ext cx="853440" cy="8978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3383280" y="4508515"/>
            <a:ext cx="853440" cy="49272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4236720" y="4557787"/>
            <a:ext cx="853440" cy="21071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5090160" y="4578858"/>
            <a:ext cx="8534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5943600" y="4578858"/>
            <a:ext cx="8534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6797040" y="4578858"/>
            <a:ext cx="8534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7650480" y="4578858"/>
            <a:ext cx="8534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7406640" y="4636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→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502920" y="38404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Feature Scaling Used?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and gradient-based algorithms need it most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234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REQUIRE Scaling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572768"/>
            <a:ext cx="4023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68249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71450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1618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51560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similarity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2167128"/>
            <a:ext cx="4023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227685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30886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051560" y="2423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optimization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02920" y="2761488"/>
            <a:ext cx="4023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0080" y="287121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90322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051560" y="3017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02920" y="3355848"/>
            <a:ext cx="4023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346557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49758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5156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051560" y="3611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weight updates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02920" y="3950208"/>
            <a:ext cx="4023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0080" y="405993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09194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51560" y="3995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1051560" y="4206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distance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48006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DON'T Require Scaling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800600" y="1572768"/>
            <a:ext cx="4023360" cy="164592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46520" y="1719072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1746504"/>
            <a:ext cx="265176" cy="265176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6601968" y="2057400"/>
            <a:ext cx="-731520" cy="27432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601968" y="2057400"/>
            <a:ext cx="731520" cy="27432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5715000" y="23317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223760" y="23317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843016" y="2587752"/>
            <a:ext cx="-320040" cy="2743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5843016" y="2587752"/>
            <a:ext cx="320040" cy="2743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351776" y="2587752"/>
            <a:ext cx="-320040" cy="2743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7351776" y="2587752"/>
            <a:ext cx="320040" cy="2743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89204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Forests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4800600" y="3291840"/>
            <a:ext cx="40233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800600" y="32918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498348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not?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4983480" y="36118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split features by </a:t>
            </a:r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distance. The absolute magnitude of each feature has no impact on the decision boundary.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Feature Scaling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workhorse techniques used across 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4023360" cy="19202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30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6304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values into a fixed range, typically 0 to 1.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" y="269748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[0, 1]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1280160"/>
            <a:ext cx="4023360" cy="1920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15544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7607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76072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Normalization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9834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data around mean 0 with unit variance.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983480" y="269748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8348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0    |    Std Dev = 1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0292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(mean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Sensitivity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Neural Nets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classical ML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every feature into the [0, 1] range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4023360" cy="12344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98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6459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X</a:t>
            </a:r>
            <a:pPr algn="ctr" indent="0" marL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</a:t>
            </a:r>
            <a:pPr algn="ctr" indent="0" marL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X</a:t>
            </a:r>
            <a:pPr algn="ctr" indent="0" marL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402336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51760"/>
            <a:ext cx="40233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00400"/>
            <a:ext cx="201168" cy="20116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58368" y="317296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66160"/>
            <a:ext cx="201168" cy="20116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58368" y="317296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58368" y="317296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97680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58368" y="317296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320040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27832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3172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and implement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58368" y="356616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93592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0120" y="35387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relationships between values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58368" y="393192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59352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60120" y="39044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Neural Networks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658368" y="4297680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25112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60120" y="42702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Image Processing pipelines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800600" y="1234440"/>
            <a:ext cx="402336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49377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Values → [0, 1]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493776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5943600" y="1828800"/>
            <a:ext cx="2743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5888736" y="17739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60720" y="1920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3" name="Shape 33"/>
          <p:cNvSpPr/>
          <p:nvPr/>
        </p:nvSpPr>
        <p:spPr>
          <a:xfrm>
            <a:off x="6574536" y="17739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6446520" y="1920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7260336" y="17739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7132320" y="1920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sp>
        <p:nvSpPr>
          <p:cNvPr id="47" name="Shape 37"/>
          <p:cNvSpPr/>
          <p:nvPr/>
        </p:nvSpPr>
        <p:spPr>
          <a:xfrm>
            <a:off x="7946136" y="17739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7818120" y="1920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8631936" y="17739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8503920" y="1920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5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2286000"/>
            <a:ext cx="228600" cy="22860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93776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5943600" y="2834640"/>
            <a:ext cx="27432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5888736" y="27797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29260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850" dirty="0"/>
          </a:p>
        </p:txBody>
      </p:sp>
      <p:sp>
        <p:nvSpPr>
          <p:cNvPr id="56" name="Shape 45"/>
          <p:cNvSpPr/>
          <p:nvPr/>
        </p:nvSpPr>
        <p:spPr>
          <a:xfrm>
            <a:off x="6355080" y="27797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6208776" y="29260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850" dirty="0"/>
          </a:p>
        </p:txBody>
      </p:sp>
      <p:sp>
        <p:nvSpPr>
          <p:cNvPr id="58" name="Shape 47"/>
          <p:cNvSpPr/>
          <p:nvPr/>
        </p:nvSpPr>
        <p:spPr>
          <a:xfrm>
            <a:off x="7095744" y="27797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6949440" y="29260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850" dirty="0"/>
          </a:p>
        </p:txBody>
      </p:sp>
      <p:sp>
        <p:nvSpPr>
          <p:cNvPr id="60" name="Shape 49"/>
          <p:cNvSpPr/>
          <p:nvPr/>
        </p:nvSpPr>
        <p:spPr>
          <a:xfrm>
            <a:off x="8028432" y="27797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7882128" y="29260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850" dirty="0"/>
          </a:p>
        </p:txBody>
      </p:sp>
      <p:sp>
        <p:nvSpPr>
          <p:cNvPr id="62" name="Shape 51"/>
          <p:cNvSpPr/>
          <p:nvPr/>
        </p:nvSpPr>
        <p:spPr>
          <a:xfrm>
            <a:off x="8631936" y="27797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8485632" y="29260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64" name="Text 53"/>
          <p:cNvSpPr/>
          <p:nvPr/>
        </p:nvSpPr>
        <p:spPr>
          <a:xfrm>
            <a:off x="4937760" y="3154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re-mapped proportionally between the minimum (0) and maximum (1).</a:t>
            </a:r>
            <a:endParaRPr lang="en-US" sz="950" dirty="0"/>
          </a:p>
        </p:txBody>
      </p:sp>
      <p:sp>
        <p:nvSpPr>
          <p:cNvPr id="65" name="Shape 54"/>
          <p:cNvSpPr/>
          <p:nvPr/>
        </p:nvSpPr>
        <p:spPr>
          <a:xfrm>
            <a:off x="4800600" y="3611880"/>
            <a:ext cx="4023360" cy="109728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4937760" y="37947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912" y="3867912"/>
            <a:ext cx="310896" cy="310896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54864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69" name="Text 57"/>
          <p:cNvSpPr/>
          <p:nvPr/>
        </p:nvSpPr>
        <p:spPr>
          <a:xfrm>
            <a:off x="5486400" y="3931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sensitive to outliers — a single extreme value can compress the entire scaled range.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(Z-Score)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data around a mean of zero with unit variance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4023360" cy="12344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98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691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− μ) / σ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2148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mean    |    σ = standard deviation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192024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2606040" y="2651760"/>
            <a:ext cx="1920240" cy="96012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971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4023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" y="409651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datasets well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429768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70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affected by outliers than Min-Max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449884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471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across ML libraries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1234440"/>
            <a:ext cx="402336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(μ=0, σ=1)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3958340"/>
            <a:ext cx="45263" cy="193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18354" y="3953538"/>
            <a:ext cx="45263" cy="2410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1788" y="3947710"/>
            <a:ext cx="45263" cy="2993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05222" y="3940681"/>
            <a:ext cx="45263" cy="369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48656" y="3932258"/>
            <a:ext cx="45263" cy="4538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92090" y="3922227"/>
            <a:ext cx="45263" cy="5541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35524" y="3910359"/>
            <a:ext cx="45263" cy="67281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78958" y="3896408"/>
            <a:ext cx="45263" cy="812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22392" y="3880114"/>
            <a:ext cx="45263" cy="9752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5826" y="3861208"/>
            <a:ext cx="45263" cy="1164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09260" y="3839416"/>
            <a:ext cx="45263" cy="1382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52694" y="3814467"/>
            <a:ext cx="45263" cy="16317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96128" y="3786095"/>
            <a:ext cx="45263" cy="191545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39562" y="3754051"/>
            <a:ext cx="45263" cy="22358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2996" y="3718110"/>
            <a:ext cx="45263" cy="25953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26430" y="3678082"/>
            <a:ext cx="45263" cy="29955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9864" y="3633819"/>
            <a:ext cx="45263" cy="34382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13298" y="3585229"/>
            <a:ext cx="45263" cy="39241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6732" y="3532285"/>
            <a:ext cx="45263" cy="44535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00166" y="3475033"/>
            <a:ext cx="45263" cy="50260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3413602"/>
            <a:ext cx="45263" cy="56403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7034" y="3348213"/>
            <a:ext cx="45263" cy="62942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0468" y="3279184"/>
            <a:ext cx="45263" cy="698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73902" y="3206932"/>
            <a:ext cx="45263" cy="7707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17336" y="3131976"/>
            <a:ext cx="45263" cy="8456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0770" y="3054935"/>
            <a:ext cx="45263" cy="92270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04204" y="2976523"/>
            <a:ext cx="45263" cy="100111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47638" y="2897539"/>
            <a:ext cx="45263" cy="108010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91072" y="2818861"/>
            <a:ext cx="45263" cy="115877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34506" y="2741425"/>
            <a:ext cx="45263" cy="123621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77940" y="2666212"/>
            <a:ext cx="45263" cy="13114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21374" y="2594226"/>
            <a:ext cx="45263" cy="138341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64808" y="2526475"/>
            <a:ext cx="45263" cy="145116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08242" y="2463944"/>
            <a:ext cx="45263" cy="15136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51676" y="2407575"/>
            <a:ext cx="45263" cy="157006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95110" y="2358242"/>
            <a:ext cx="45263" cy="161939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38544" y="2316728"/>
            <a:ext cx="45263" cy="1660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81978" y="2283705"/>
            <a:ext cx="45263" cy="169393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25412" y="2259716"/>
            <a:ext cx="45263" cy="17179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8846" y="2245159"/>
            <a:ext cx="45263" cy="173248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12280" y="2240280"/>
            <a:ext cx="45263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55714" y="2245159"/>
            <a:ext cx="45263" cy="173248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99148" y="2259716"/>
            <a:ext cx="45263" cy="17179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42582" y="2283705"/>
            <a:ext cx="45263" cy="169393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86016" y="2316728"/>
            <a:ext cx="45263" cy="1660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29450" y="2358242"/>
            <a:ext cx="45263" cy="161939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72884" y="2407575"/>
            <a:ext cx="45263" cy="157006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16318" y="2463944"/>
            <a:ext cx="45263" cy="15136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59752" y="2526475"/>
            <a:ext cx="45263" cy="145116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03186" y="2594226"/>
            <a:ext cx="45263" cy="138341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246620" y="2666212"/>
            <a:ext cx="45263" cy="13114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90054" y="2741425"/>
            <a:ext cx="45263" cy="123621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33488" y="2818861"/>
            <a:ext cx="45263" cy="115877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76922" y="2897539"/>
            <a:ext cx="45263" cy="108010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20356" y="2976523"/>
            <a:ext cx="45263" cy="100111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3790" y="3054935"/>
            <a:ext cx="45263" cy="92270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507224" y="3131976"/>
            <a:ext cx="45263" cy="8456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550658" y="3206932"/>
            <a:ext cx="45263" cy="7707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594092" y="3279184"/>
            <a:ext cx="45263" cy="698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637526" y="3348213"/>
            <a:ext cx="45263" cy="62942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680960" y="3413602"/>
            <a:ext cx="45263" cy="56403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24394" y="3475033"/>
            <a:ext cx="45263" cy="50260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67828" y="3532285"/>
            <a:ext cx="45263" cy="445355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811262" y="3585229"/>
            <a:ext cx="45263" cy="39241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54696" y="3633819"/>
            <a:ext cx="45263" cy="34382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98130" y="3678082"/>
            <a:ext cx="45263" cy="29955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41564" y="3718110"/>
            <a:ext cx="45263" cy="25953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84998" y="3754051"/>
            <a:ext cx="45263" cy="22358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28432" y="3786095"/>
            <a:ext cx="45263" cy="191545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71866" y="3814467"/>
            <a:ext cx="45263" cy="16317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15300" y="3839416"/>
            <a:ext cx="45263" cy="13822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58734" y="3861208"/>
            <a:ext cx="45263" cy="1164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202168" y="3880114"/>
            <a:ext cx="45263" cy="9752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245602" y="3896408"/>
            <a:ext cx="45263" cy="812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289036" y="3910359"/>
            <a:ext cx="45263" cy="67281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332470" y="3922227"/>
            <a:ext cx="45263" cy="5541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375904" y="3932258"/>
            <a:ext cx="45263" cy="4538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419338" y="3940681"/>
            <a:ext cx="45263" cy="36959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62772" y="3947710"/>
            <a:ext cx="45263" cy="2993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506206" y="3953538"/>
            <a:ext cx="45263" cy="2410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983480" y="3977640"/>
            <a:ext cx="3657600" cy="0"/>
          </a:xfrm>
          <a:prstGeom prst="line">
            <a:avLst/>
          </a:prstGeom>
          <a:noFill/>
          <a:ln w="15240">
            <a:solidFill>
              <a:srgbClr val="0B1E3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074920" y="3977640"/>
            <a:ext cx="0" cy="54864"/>
          </a:xfrm>
          <a:prstGeom prst="line">
            <a:avLst/>
          </a:prstGeom>
          <a:noFill/>
          <a:ln w="12700">
            <a:solidFill>
              <a:srgbClr val="0B1E3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892040" y="4050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-3σ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654040" y="3977640"/>
            <a:ext cx="0" cy="54864"/>
          </a:xfrm>
          <a:prstGeom prst="line">
            <a:avLst/>
          </a:prstGeom>
          <a:noFill/>
          <a:ln w="12700">
            <a:solidFill>
              <a:srgbClr val="0B1E3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71160" y="4050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-2σ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6233160" y="3977640"/>
            <a:ext cx="0" cy="54864"/>
          </a:xfrm>
          <a:prstGeom prst="line">
            <a:avLst/>
          </a:prstGeom>
          <a:noFill/>
          <a:ln w="12700">
            <a:solidFill>
              <a:srgbClr val="0B1E3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050280" y="4050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-1σ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812280" y="3977640"/>
            <a:ext cx="0" cy="54864"/>
          </a:xfrm>
          <a:prstGeom prst="line">
            <a:avLst/>
          </a:prstGeom>
          <a:noFill/>
          <a:ln w="12700">
            <a:solidFill>
              <a:srgbClr val="0B1E3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29400" y="4050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0σ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391400" y="3977640"/>
            <a:ext cx="0" cy="54864"/>
          </a:xfrm>
          <a:prstGeom prst="line">
            <a:avLst/>
          </a:prstGeom>
          <a:noFill/>
          <a:ln w="12700">
            <a:solidFill>
              <a:srgbClr val="0B1E3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208520" y="4050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1σ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970520" y="3977640"/>
            <a:ext cx="0" cy="54864"/>
          </a:xfrm>
          <a:prstGeom prst="line">
            <a:avLst/>
          </a:prstGeom>
          <a:noFill/>
          <a:ln w="12700">
            <a:solidFill>
              <a:srgbClr val="0B1E3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787640" y="4050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2σ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549640" y="3977640"/>
            <a:ext cx="0" cy="54864"/>
          </a:xfrm>
          <a:prstGeom prst="line">
            <a:avLst/>
          </a:prstGeom>
          <a:noFill/>
          <a:ln w="12700">
            <a:solidFill>
              <a:srgbClr val="0B1E3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366760" y="4050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3σ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812280" y="2194560"/>
            <a:ext cx="0" cy="178308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127" name="Text 125"/>
          <p:cNvSpPr/>
          <p:nvPr/>
        </p:nvSpPr>
        <p:spPr>
          <a:xfrm>
            <a:off x="6446520" y="1965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4937760" y="43434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in ML — the go-to method for tabular data.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Feature Scaling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Income transformed side-by-side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(cm)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206240" y="288036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017520"/>
            <a:ext cx="457200" cy="45720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30449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14800" y="3639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074920" y="128016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32588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Min-Max Scaling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502920" y="3840480"/>
            <a:ext cx="832104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85800" y="404164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114800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80160" y="393192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Height and Income now share the same [0, 1] range — the model gives them equal importance during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Feature Scaling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benefits that boost every ML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42062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80160"/>
            <a:ext cx="73152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34416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7160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12801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model accuracy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1755648"/>
            <a:ext cx="42062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755648"/>
            <a:ext cx="7315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81965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47088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17556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" y="2231136"/>
            <a:ext cx="42062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2231136"/>
            <a:ext cx="73152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5800" y="2295144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2257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223113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 performance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02920" y="2706624"/>
            <a:ext cx="42062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02920" y="2706624"/>
            <a:ext cx="73152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5800" y="277063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98064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270662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prediction bias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02920" y="3182112"/>
            <a:ext cx="42062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02920" y="3182112"/>
            <a:ext cx="7315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85800" y="324612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273552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7280" y="31821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feature comparison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02920" y="3657600"/>
            <a:ext cx="42062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02920" y="3657600"/>
            <a:ext cx="73152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85800" y="3721608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749040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97280" y="365760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optimization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502920" y="4133088"/>
            <a:ext cx="42062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02920" y="4133088"/>
            <a:ext cx="73152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85800" y="419709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224528"/>
            <a:ext cx="219456" cy="21945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97280" y="413308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Gradient Descent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493776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Uplift Illustration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5029200" y="1691640"/>
            <a:ext cx="379476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5532120" y="3931920"/>
            <a:ext cx="31546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5577840" y="2971800"/>
            <a:ext cx="3200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5952744" y="2299716"/>
            <a:ext cx="320040" cy="16322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5440680" y="395020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6598920" y="3355848"/>
            <a:ext cx="320040" cy="576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6973824" y="2203704"/>
            <a:ext cx="320040" cy="17282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6461760" y="395020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50" dirty="0"/>
          </a:p>
        </p:txBody>
      </p:sp>
      <p:sp>
        <p:nvSpPr>
          <p:cNvPr id="55" name="Shape 46"/>
          <p:cNvSpPr/>
          <p:nvPr/>
        </p:nvSpPr>
        <p:spPr>
          <a:xfrm>
            <a:off x="7620000" y="3067812"/>
            <a:ext cx="320040" cy="8641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7994904" y="2395728"/>
            <a:ext cx="320040" cy="15361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7482840" y="395020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8" name="Shape 49"/>
          <p:cNvSpPr/>
          <p:nvPr/>
        </p:nvSpPr>
        <p:spPr>
          <a:xfrm>
            <a:off x="5440680" y="4224528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5605272" y="4187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6537960" y="4224528"/>
            <a:ext cx="12801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702552" y="4187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Scaling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4937760" y="4160520"/>
            <a:ext cx="3886200" cy="5486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4937760" y="41605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model accuracy after applying feature scaling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Feature Scaling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it helps and when it hurts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8016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53619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09344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1732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for Trees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417320" y="1938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and Random Forests split by thresholds, so scaling has no effect on their performance.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128016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1280160"/>
            <a:ext cx="4023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92040" y="1536192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09344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2356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Sensitivity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623560" y="1938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can be distorted by a single outlier, compressing all other values into a tiny range.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297180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2920" y="2971800"/>
            <a:ext cx="40233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5800" y="3227832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300984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17320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Preprocessing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417320" y="36301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adds a step to the pipeline; parameters must be fit on training and applied to test data consistently.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709160" y="297180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709160" y="297180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892040" y="322783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300984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623560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Method Hurts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5623560" y="36301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wrong scaling method for the data distribution can actually reduce model performance.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2920" y="4709160"/>
            <a:ext cx="832104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feature scaling powers real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8016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3292" y="1536192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60020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&amp; imaging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87752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87752" y="128016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78124" y="153619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160020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79192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679192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672584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72584" y="1280160"/>
            <a:ext cx="19659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362956" y="1536192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964" y="160020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64024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64024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patterns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757416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757416" y="128016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47788" y="1536192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796" y="160020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48856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848856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Amazon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02920" y="29718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02920" y="297180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193292" y="322783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3291840"/>
            <a:ext cx="457200" cy="4572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94360" y="3886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94360" y="4178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login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2587752" y="29718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587752" y="2971800"/>
            <a:ext cx="19659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278124" y="3227832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2132" y="3291840"/>
            <a:ext cx="457200" cy="4572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679192" y="3886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2679192" y="4178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4672584" y="29718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4672584" y="297180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362956" y="3227832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6964" y="3291840"/>
            <a:ext cx="457200" cy="4572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764024" y="3886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4764024" y="4178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6757416" y="297180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6757416" y="297180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7447788" y="322783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1796" y="3291840"/>
            <a:ext cx="457200" cy="45720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6848856" y="38862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Prediction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6848856" y="4178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analytics</a:t>
            </a:r>
            <a:endParaRPr lang="en-US" sz="950" dirty="0"/>
          </a:p>
        </p:txBody>
      </p:sp>
      <p:sp>
        <p:nvSpPr>
          <p:cNvPr id="59" name="Shape 49"/>
          <p:cNvSpPr/>
          <p:nvPr/>
        </p:nvSpPr>
        <p:spPr>
          <a:xfrm>
            <a:off x="502920" y="4590288"/>
            <a:ext cx="832104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502920" y="45902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intelligent system you interact with likely relies on properly scaled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64592" cy="25831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— small step, big impact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in Machine Learning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4937760"/>
            <a:ext cx="1280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4023360" cy="34290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8016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7830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is an essential preprocessing technique that ensures all features contribute equally during model training.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4380" y="288036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3051353"/>
            <a:ext cx="427482" cy="42748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2940" y="3703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540764" y="3268980"/>
            <a:ext cx="11887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68780" y="288036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73" y="3051353"/>
            <a:ext cx="427482" cy="42748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77340" y="3703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455164" y="3268980"/>
            <a:ext cx="11887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583180" y="2880360"/>
            <a:ext cx="777240" cy="777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173" y="3051353"/>
            <a:ext cx="427482" cy="42748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491740" y="3703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369564" y="3268980"/>
            <a:ext cx="11887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497580" y="2880360"/>
            <a:ext cx="777240" cy="7772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573" y="3051353"/>
            <a:ext cx="427482" cy="42748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406140" y="3703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0292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800600" y="1280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4800600" y="1645920"/>
            <a:ext cx="4023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800600" y="1645920"/>
            <a:ext cx="731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983480" y="17099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737360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49240" y="16459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model accuracy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4800600" y="2121408"/>
            <a:ext cx="4023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800600" y="2121408"/>
            <a:ext cx="731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983480" y="218541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212848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349240" y="21214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learning process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4800600" y="2596896"/>
            <a:ext cx="4023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4800600" y="2596896"/>
            <a:ext cx="731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983480" y="266090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2688336"/>
            <a:ext cx="201168" cy="20116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349240" y="25968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overall performance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4800600" y="3072384"/>
            <a:ext cx="4023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800600" y="3072384"/>
            <a:ext cx="731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4983480" y="313639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163824"/>
            <a:ext cx="201168" cy="20116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349240" y="30723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prediction bias</a:t>
            </a:r>
            <a:endParaRPr lang="en-US" sz="1150" dirty="0"/>
          </a:p>
        </p:txBody>
      </p:sp>
      <p:sp>
        <p:nvSpPr>
          <p:cNvPr id="52" name="Shape 42"/>
          <p:cNvSpPr/>
          <p:nvPr/>
        </p:nvSpPr>
        <p:spPr>
          <a:xfrm>
            <a:off x="4800600" y="3547872"/>
            <a:ext cx="4023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4800600" y="3547872"/>
            <a:ext cx="731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4983480" y="361188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912" y="3639312"/>
            <a:ext cx="201168" cy="20116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5349240" y="35478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many ML algorithms</a:t>
            </a:r>
            <a:endParaRPr lang="en-US" sz="1150" dirty="0"/>
          </a:p>
        </p:txBody>
      </p:sp>
      <p:sp>
        <p:nvSpPr>
          <p:cNvPr id="57" name="Shape 46"/>
          <p:cNvSpPr/>
          <p:nvPr/>
        </p:nvSpPr>
        <p:spPr>
          <a:xfrm>
            <a:off x="4800600" y="4023360"/>
            <a:ext cx="4023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4800600" y="4023360"/>
            <a:ext cx="731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4983480" y="408736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912" y="4114800"/>
            <a:ext cx="201168" cy="201168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5349240" y="40233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926080"/>
            <a:ext cx="4389120" cy="438912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-914400"/>
            <a:ext cx="1828800" cy="182880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685800"/>
            <a:ext cx="1371600" cy="1371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86868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672" y="1033272"/>
            <a:ext cx="685800" cy="6858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033272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2" name="Shape 8"/>
          <p:cNvSpPr/>
          <p:nvPr/>
        </p:nvSpPr>
        <p:spPr>
          <a:xfrm>
            <a:off x="3657600" y="3383280"/>
            <a:ext cx="182880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743200" y="4023360"/>
            <a:ext cx="365760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Sakthi Pranav S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24CSR253  •  CSE-E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Scaling in Machine Learning</dc:title>
  <dc:subject>PptxGenJS Presentation</dc:subject>
  <dc:creator>MuleRun Super Agent</dc:creator>
  <cp:lastModifiedBy>MuleRun Super Agent</cp:lastModifiedBy>
  <cp:revision>1</cp:revision>
  <dcterms:created xsi:type="dcterms:W3CDTF">2026-07-13T01:10:33Z</dcterms:created>
  <dcterms:modified xsi:type="dcterms:W3CDTF">2026-07-13T01:10:33Z</dcterms:modified>
</cp:coreProperties>
</file>